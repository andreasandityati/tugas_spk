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77" r:id="rId2"/>
    <p:sldId id="257" r:id="rId3"/>
    <p:sldId id="258" r:id="rId4"/>
    <p:sldId id="259" r:id="rId5"/>
    <p:sldId id="260" r:id="rId6"/>
    <p:sldId id="261" r:id="rId7"/>
    <p:sldId id="262" r:id="rId8"/>
    <p:sldId id="276" r:id="rId9"/>
    <p:sldId id="264" r:id="rId10"/>
    <p:sldId id="265" r:id="rId11"/>
    <p:sldId id="266" r:id="rId12"/>
    <p:sldId id="27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6"/>
    <p:restoredTop sz="94706"/>
  </p:normalViewPr>
  <p:slideViewPr>
    <p:cSldViewPr snapToGrid="0">
      <p:cViewPr>
        <p:scale>
          <a:sx n="105" d="100"/>
          <a:sy n="105" d="100"/>
        </p:scale>
        <p:origin x="14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75432E-3F72-7248-863C-A714C66D007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5EAB70-2DC8-B244-ADF4-BEF69FC7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276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538F2-45A7-E022-12B9-EBFA7ABC68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Gama-Sans" pitchFamily="2" charset="0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74BF7-1471-8DFE-1130-4EE978B53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Gama-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BEDE04C6-D481-B517-8844-5DE324319D56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53BD1535-B20D-65A1-1D26-4AC901696C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4FBD4294-A38F-CBAE-28F3-11BE65EBC9C4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841130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8C5AC-BCE8-CCD3-860D-F3FD30866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1DA90-F343-807A-59A2-C66370C4E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Gama-Sans" pitchFamily="2" charset="0"/>
              </a:defRPr>
            </a:lvl1pPr>
            <a:lvl2pPr>
              <a:defRPr>
                <a:latin typeface="Gama-Sans" pitchFamily="2" charset="0"/>
              </a:defRPr>
            </a:lvl2pPr>
            <a:lvl3pPr>
              <a:defRPr>
                <a:latin typeface="Gama-Sans" pitchFamily="2" charset="0"/>
              </a:defRPr>
            </a:lvl3pPr>
            <a:lvl4pPr>
              <a:defRPr>
                <a:latin typeface="Gama-Sans" pitchFamily="2" charset="0"/>
              </a:defRPr>
            </a:lvl4pPr>
            <a:lvl5pPr>
              <a:defRPr>
                <a:latin typeface="Gama-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764CA495-845F-F1E5-405A-1696841EE497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A05445C8-D3B4-9334-5B67-36A9B8D426E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EA3A1936-2E0F-991F-35BB-ADEC32BFC92B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30998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476F5-AC1E-EE20-ED33-42128F3F8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254739-AF9F-2D3E-0084-8E22BB107B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Gama-Sans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72C1A1D7-388A-F32D-3DC8-5BC3EF5BAEF4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880E6E0D-3BF1-FF03-2DBE-8A4812B98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E715DD30-95C7-56AE-8384-F70191600998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107890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6A4D-2A61-0ADD-56B4-E51A1BC33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0D153-DC0B-E2D5-DFAD-27B6FEE3C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Gama-Sans" pitchFamily="2" charset="0"/>
              </a:defRPr>
            </a:lvl1pPr>
            <a:lvl2pPr>
              <a:defRPr>
                <a:latin typeface="Gama-Sans" pitchFamily="2" charset="0"/>
              </a:defRPr>
            </a:lvl2pPr>
            <a:lvl3pPr>
              <a:defRPr>
                <a:latin typeface="Gama-Sans" pitchFamily="2" charset="0"/>
              </a:defRPr>
            </a:lvl3pPr>
            <a:lvl4pPr>
              <a:defRPr>
                <a:latin typeface="Gama-Sans" pitchFamily="2" charset="0"/>
              </a:defRPr>
            </a:lvl4pPr>
            <a:lvl5pPr>
              <a:defRPr>
                <a:latin typeface="Gama-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2D6E63-6532-DB50-9A0D-FA0501EF81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Gama-Sans" pitchFamily="2" charset="0"/>
              </a:defRPr>
            </a:lvl1pPr>
            <a:lvl2pPr>
              <a:defRPr>
                <a:latin typeface="Gama-Sans" pitchFamily="2" charset="0"/>
              </a:defRPr>
            </a:lvl2pPr>
            <a:lvl3pPr>
              <a:defRPr>
                <a:latin typeface="Gama-Sans" pitchFamily="2" charset="0"/>
              </a:defRPr>
            </a:lvl3pPr>
            <a:lvl4pPr>
              <a:defRPr>
                <a:latin typeface="Gama-Sans" pitchFamily="2" charset="0"/>
              </a:defRPr>
            </a:lvl4pPr>
            <a:lvl5pPr>
              <a:defRPr>
                <a:latin typeface="Gama-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A138F257-8017-5BF8-A751-56254A2F9E73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233F0852-7B0E-0A8B-DD07-EF37D37789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E371784B-D5DA-4E53-0178-E648CFF8C09A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865805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A3F7-4B06-4E47-3167-620E4CD96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C50EFF-9A89-37D8-7FD6-8347FD14A7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Gama-Sans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948303-35F0-CBA5-1386-0A244EC59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Gama-Sans" pitchFamily="2" charset="0"/>
              </a:defRPr>
            </a:lvl1pPr>
            <a:lvl2pPr>
              <a:defRPr>
                <a:latin typeface="Gama-Sans" pitchFamily="2" charset="0"/>
              </a:defRPr>
            </a:lvl2pPr>
            <a:lvl3pPr>
              <a:defRPr>
                <a:latin typeface="Gama-Sans" pitchFamily="2" charset="0"/>
              </a:defRPr>
            </a:lvl3pPr>
            <a:lvl4pPr>
              <a:defRPr>
                <a:latin typeface="Gama-Sans" pitchFamily="2" charset="0"/>
              </a:defRPr>
            </a:lvl4pPr>
            <a:lvl5pPr>
              <a:defRPr>
                <a:latin typeface="Gama-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B8AB40-3828-D4DA-27B3-0D177FBBCD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Gama-Sans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6BABA3-5ABC-20B8-FA3F-32A82E7BA6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Gama-Sans" pitchFamily="2" charset="0"/>
              </a:defRPr>
            </a:lvl1pPr>
            <a:lvl2pPr>
              <a:defRPr>
                <a:latin typeface="Gama-Sans" pitchFamily="2" charset="0"/>
              </a:defRPr>
            </a:lvl2pPr>
            <a:lvl3pPr>
              <a:defRPr>
                <a:latin typeface="Gama-Sans" pitchFamily="2" charset="0"/>
              </a:defRPr>
            </a:lvl3pPr>
            <a:lvl4pPr>
              <a:defRPr>
                <a:latin typeface="Gama-Sans" pitchFamily="2" charset="0"/>
              </a:defRPr>
            </a:lvl4pPr>
            <a:lvl5pPr>
              <a:defRPr>
                <a:latin typeface="Gama-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036E5B38-BAF5-CAC0-1451-E35D3D4B994F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A738C104-F66F-6EE6-34A9-C4DEB479B1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12" name="TextBox 372">
            <a:extLst>
              <a:ext uri="{FF2B5EF4-FFF2-40B4-BE49-F238E27FC236}">
                <a16:creationId xmlns:a16="http://schemas.microsoft.com/office/drawing/2014/main" id="{15D4AD0F-8CEB-A2DD-A5D2-5B3AFECA9B3C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936471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7575E-A8E9-78AD-4E9D-D483B0F60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6" name="Konektor Panah Lurus 74">
            <a:extLst>
              <a:ext uri="{FF2B5EF4-FFF2-40B4-BE49-F238E27FC236}">
                <a16:creationId xmlns:a16="http://schemas.microsoft.com/office/drawing/2014/main" id="{74E3A03E-2A52-8533-7573-F1FC2ABF7F10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6C8A6951-E2E5-7FE7-4497-9402E2B42B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8" name="TextBox 372">
            <a:extLst>
              <a:ext uri="{FF2B5EF4-FFF2-40B4-BE49-F238E27FC236}">
                <a16:creationId xmlns:a16="http://schemas.microsoft.com/office/drawing/2014/main" id="{B9344DD3-CD81-1487-4170-208E385BCFB0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70080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Konektor Panah Lurus 74">
            <a:extLst>
              <a:ext uri="{FF2B5EF4-FFF2-40B4-BE49-F238E27FC236}">
                <a16:creationId xmlns:a16="http://schemas.microsoft.com/office/drawing/2014/main" id="{8934250E-F01B-B500-77B0-2A3E454A7CF8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F3E227D9-94A1-4050-2F7D-224B611DC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7" name="TextBox 372">
            <a:extLst>
              <a:ext uri="{FF2B5EF4-FFF2-40B4-BE49-F238E27FC236}">
                <a16:creationId xmlns:a16="http://schemas.microsoft.com/office/drawing/2014/main" id="{A01CED64-B079-E497-E5E4-ABABAD771FCC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36428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051FC-EA10-892C-9E3A-2660B951D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D40E1-B59F-E2CF-5331-5B89CBFB7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Gama-Sans" pitchFamily="2" charset="0"/>
              </a:defRPr>
            </a:lvl1pPr>
            <a:lvl2pPr>
              <a:defRPr sz="2800">
                <a:latin typeface="Gama-Sans" pitchFamily="2" charset="0"/>
              </a:defRPr>
            </a:lvl2pPr>
            <a:lvl3pPr>
              <a:defRPr sz="2400">
                <a:latin typeface="Gama-Sans" pitchFamily="2" charset="0"/>
              </a:defRPr>
            </a:lvl3pPr>
            <a:lvl4pPr>
              <a:defRPr sz="2000">
                <a:latin typeface="Gama-Sans" pitchFamily="2" charset="0"/>
              </a:defRPr>
            </a:lvl4pPr>
            <a:lvl5pPr>
              <a:defRPr sz="2000">
                <a:latin typeface="Gama-Sans" pitchFamily="2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09BE52-7937-8AAF-CB5F-29F34CD5B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Gama-Sans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8CD68DF5-55AD-10B0-11DE-4C341D66A0DA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82F4AF18-EDCB-1642-D860-1DD0C9FEE0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C0112972-6E4B-F57B-A192-E76BBA26133C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59685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B5F85-683C-20E8-EDB0-FE3B01D51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595B91-9745-42DC-39E4-BBB3BCCD07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399DB5-C6A3-7B4B-578C-376B5F1B6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Gama-Sans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FC425C8A-4081-6FFB-ACF1-5B57158ACF4F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1213380E-859C-9DF9-54DA-1491297A8B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ED5F3337-AC40-0E36-837A-98D7BB495F8E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391765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BBDC-014D-39D7-540A-A0BD73757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6FB2FA-DD9E-809E-1963-67D6BE50D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Gama-Sans" pitchFamily="2" charset="0"/>
              </a:defRPr>
            </a:lvl1pPr>
            <a:lvl2pPr>
              <a:defRPr>
                <a:latin typeface="Gama-Sans" pitchFamily="2" charset="0"/>
              </a:defRPr>
            </a:lvl2pPr>
            <a:lvl3pPr>
              <a:defRPr>
                <a:latin typeface="Gama-Sans" pitchFamily="2" charset="0"/>
              </a:defRPr>
            </a:lvl3pPr>
            <a:lvl4pPr>
              <a:defRPr>
                <a:latin typeface="Gama-Sans" pitchFamily="2" charset="0"/>
              </a:defRPr>
            </a:lvl4pPr>
            <a:lvl5pPr>
              <a:defRPr>
                <a:latin typeface="Gama-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0F985A3E-FC4B-2179-E944-F08FEEACD30A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E517AA71-5D0B-FFC3-CC41-353CB2A2AE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A8B251F0-B892-F49A-C8B5-517B5B3AB336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53200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8062F0-7A20-B7D9-638C-5CC5473C23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Gama-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2A81CA-E8A6-73FA-4E5C-90B96E34AE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Gama-Sans" pitchFamily="2" charset="0"/>
              </a:defRPr>
            </a:lvl1pPr>
            <a:lvl2pPr>
              <a:defRPr>
                <a:latin typeface="Gama-Sans" pitchFamily="2" charset="0"/>
              </a:defRPr>
            </a:lvl2pPr>
            <a:lvl3pPr>
              <a:defRPr>
                <a:latin typeface="Gama-Sans" pitchFamily="2" charset="0"/>
              </a:defRPr>
            </a:lvl3pPr>
            <a:lvl4pPr>
              <a:defRPr>
                <a:latin typeface="Gama-Sans" pitchFamily="2" charset="0"/>
              </a:defRPr>
            </a:lvl4pPr>
            <a:lvl5pPr>
              <a:defRPr>
                <a:latin typeface="Gama-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24EE1C75-1CBE-E570-CC75-17A54D7D1067}"/>
              </a:ext>
            </a:extLst>
          </p:cNvPr>
          <p:cNvCxnSpPr/>
          <p:nvPr userDrawn="1"/>
        </p:nvCxnSpPr>
        <p:spPr>
          <a:xfrm>
            <a:off x="341842" y="6362099"/>
            <a:ext cx="11498224" cy="15064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2A1E9E83-AA91-7166-D4A8-12002F4655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6594" y="221043"/>
            <a:ext cx="1476138" cy="415023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A3F94C10-97DB-15C6-CD72-AFB397120890}"/>
              </a:ext>
            </a:extLst>
          </p:cNvPr>
          <p:cNvSpPr txBox="1"/>
          <p:nvPr userDrawn="1"/>
        </p:nvSpPr>
        <p:spPr>
          <a:xfrm>
            <a:off x="2422495" y="6439415"/>
            <a:ext cx="7343814" cy="3231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500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500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500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2486531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1314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6581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D2D378-558B-FD59-5188-898F0933E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0C27B1-85EF-579A-7123-32529B0BF3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783AB-E86C-7103-0448-8A46DF9071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D9F01-457B-504C-A437-A67D544BECDE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84012-760A-403B-7BF4-BFC396D944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88D2C-E4ED-4E06-15FB-C40E0FDC73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B820A5-7F89-B742-84A8-5987E3A8A6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911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ama-Sans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ama-Sans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ama-Sans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ma-Sans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gkaran: Berongga 6">
            <a:extLst>
              <a:ext uri="{FF2B5EF4-FFF2-40B4-BE49-F238E27FC236}">
                <a16:creationId xmlns:a16="http://schemas.microsoft.com/office/drawing/2014/main" id="{7F5AAEFE-0A69-A9A2-4FEC-A930E12D21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85203" y="185174"/>
            <a:ext cx="1442809" cy="1499716"/>
          </a:xfrm>
          <a:prstGeom prst="donut">
            <a:avLst/>
          </a:prstGeom>
          <a:solidFill>
            <a:srgbClr val="1D4F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>
              <a:solidFill>
                <a:schemeClr val="tx1"/>
              </a:solidFill>
            </a:endParaRPr>
          </a:p>
        </p:txBody>
      </p:sp>
      <p:pic>
        <p:nvPicPr>
          <p:cNvPr id="4" name="Gambar 3">
            <a:extLst>
              <a:ext uri="{FF2B5EF4-FFF2-40B4-BE49-F238E27FC236}">
                <a16:creationId xmlns:a16="http://schemas.microsoft.com/office/drawing/2014/main" id="{EAB42FC2-2945-9A58-25B9-5144177A7A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31095" t="7672" b="38776"/>
          <a:stretch>
            <a:fillRect/>
          </a:stretch>
        </p:blipFill>
        <p:spPr>
          <a:xfrm rot="-5400000">
            <a:off x="6755193" y="2496659"/>
            <a:ext cx="3982697" cy="4738487"/>
          </a:xfrm>
          <a:prstGeom prst="rect">
            <a:avLst/>
          </a:prstGeom>
        </p:spPr>
      </p:pic>
      <p:sp>
        <p:nvSpPr>
          <p:cNvPr id="409" name="Freeform 408">
            <a:extLst>
              <a:ext uri="{FF2B5EF4-FFF2-40B4-BE49-F238E27FC236}">
                <a16:creationId xmlns:a16="http://schemas.microsoft.com/office/drawing/2014/main" id="{681BB1AB-7E92-11AA-CF2A-2E48B484BC0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560428" y="-13447"/>
            <a:ext cx="1640807" cy="6867016"/>
          </a:xfrm>
          <a:custGeom>
            <a:avLst/>
            <a:gdLst>
              <a:gd name="connsiteX0" fmla="*/ 0 w 12187364"/>
              <a:gd name="connsiteY0" fmla="*/ 0 h 157797"/>
              <a:gd name="connsiteX1" fmla="*/ 12187364 w 12187364"/>
              <a:gd name="connsiteY1" fmla="*/ 0 h 157797"/>
              <a:gd name="connsiteX2" fmla="*/ 12187364 w 12187364"/>
              <a:gd name="connsiteY2" fmla="*/ 157798 h 157797"/>
              <a:gd name="connsiteX3" fmla="*/ 0 w 12187364"/>
              <a:gd name="connsiteY3" fmla="*/ 157798 h 157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7364" h="157797">
                <a:moveTo>
                  <a:pt x="0" y="0"/>
                </a:moveTo>
                <a:lnTo>
                  <a:pt x="12187364" y="0"/>
                </a:lnTo>
                <a:lnTo>
                  <a:pt x="12187364" y="157798"/>
                </a:lnTo>
                <a:lnTo>
                  <a:pt x="0" y="157798"/>
                </a:lnTo>
                <a:close/>
              </a:path>
            </a:pathLst>
          </a:custGeom>
          <a:solidFill>
            <a:srgbClr val="FFC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12DEF595-DBC8-9E08-F8DA-4250BF3BFAED}"/>
              </a:ext>
            </a:extLst>
          </p:cNvPr>
          <p:cNvSpPr txBox="1"/>
          <p:nvPr/>
        </p:nvSpPr>
        <p:spPr>
          <a:xfrm>
            <a:off x="504768" y="1947100"/>
            <a:ext cx="8517312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ID" sz="4800" dirty="0">
                <a:solidFill>
                  <a:srgbClr val="FFC000"/>
                </a:solidFill>
                <a:latin typeface="Helvetica Neue" panose="02000503000000020004" pitchFamily="2" charset="0"/>
              </a:rPr>
              <a:t>SPK </a:t>
            </a:r>
            <a:r>
              <a:rPr lang="en-ID" sz="4800" dirty="0">
                <a:solidFill>
                  <a:srgbClr val="FFC000"/>
                </a:solidFill>
                <a:effectLst/>
                <a:latin typeface="Helvetica Neue" panose="02000503000000020004" pitchFamily="2" charset="0"/>
              </a:rPr>
              <a:t>AHP dan TOPSIS </a:t>
            </a:r>
            <a:r>
              <a:rPr lang="en-ID" sz="4800" dirty="0" err="1">
                <a:solidFill>
                  <a:srgbClr val="FFC000"/>
                </a:solidFill>
                <a:effectLst/>
                <a:latin typeface="Helvetica Neue" panose="02000503000000020004" pitchFamily="2" charset="0"/>
              </a:rPr>
              <a:t>Pemilihan</a:t>
            </a:r>
            <a:r>
              <a:rPr lang="en-ID" sz="4800" dirty="0">
                <a:solidFill>
                  <a:srgbClr val="FFC000"/>
                </a:solidFill>
                <a:effectLst/>
                <a:latin typeface="Helvetica Neue" panose="02000503000000020004" pitchFamily="2" charset="0"/>
              </a:rPr>
              <a:t> Lokasi Usaha / Cabang Baru</a:t>
            </a: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47A63D54-F51A-492D-B8A8-1C253FB7D25D}"/>
              </a:ext>
            </a:extLst>
          </p:cNvPr>
          <p:cNvSpPr txBox="1"/>
          <p:nvPr/>
        </p:nvSpPr>
        <p:spPr>
          <a:xfrm>
            <a:off x="508635" y="4401508"/>
            <a:ext cx="5234624" cy="36163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ts val="2080"/>
              </a:lnSpc>
            </a:pPr>
            <a:r>
              <a:rPr lang="en-US" spc="0" baseline="0" dirty="0">
                <a:ln/>
                <a:solidFill>
                  <a:srgbClr val="FFFFFF"/>
                </a:solidFill>
                <a:latin typeface="Gama-Sans-Regular"/>
                <a:sym typeface="Gama-Sans-Regular"/>
              </a:rPr>
              <a:t>Andreas Anditya </a:t>
            </a:r>
            <a:r>
              <a:rPr lang="en-US" spc="0" baseline="0" dirty="0" err="1">
                <a:ln/>
                <a:solidFill>
                  <a:srgbClr val="FFFFFF"/>
                </a:solidFill>
                <a:latin typeface="Gama-Sans-Regular"/>
                <a:sym typeface="Gama-Sans-Regular"/>
              </a:rPr>
              <a:t>Purnama</a:t>
            </a:r>
            <a:r>
              <a:rPr lang="en-US" spc="0" baseline="0" dirty="0">
                <a:ln/>
                <a:solidFill>
                  <a:srgbClr val="FFFFFF"/>
                </a:solidFill>
                <a:latin typeface="Gama-Sans-Regular"/>
                <a:sym typeface="Gama-Sans-Regular"/>
              </a:rPr>
              <a:t> - 572392</a:t>
            </a:r>
            <a:endParaRPr lang="en-US" spc="0" baseline="0" dirty="0">
              <a:ln/>
              <a:solidFill>
                <a:srgbClr val="FFFFFF"/>
              </a:solidFill>
              <a:latin typeface="Gama-Sans-Regular"/>
              <a:sym typeface="Gama-Sans-Regular"/>
              <a:rtl val="0"/>
            </a:endParaRPr>
          </a:p>
        </p:txBody>
      </p:sp>
      <p:sp>
        <p:nvSpPr>
          <p:cNvPr id="397" name="Freeform 396">
            <a:extLst>
              <a:ext uri="{FF2B5EF4-FFF2-40B4-BE49-F238E27FC236}">
                <a16:creationId xmlns:a16="http://schemas.microsoft.com/office/drawing/2014/main" id="{266AAECE-44A5-A7B2-A3B2-114AE9F6CB4C}"/>
              </a:ext>
            </a:extLst>
          </p:cNvPr>
          <p:cNvSpPr/>
          <p:nvPr/>
        </p:nvSpPr>
        <p:spPr>
          <a:xfrm>
            <a:off x="600075" y="4011490"/>
            <a:ext cx="777176" cy="36688"/>
          </a:xfrm>
          <a:custGeom>
            <a:avLst/>
            <a:gdLst>
              <a:gd name="connsiteX0" fmla="*/ 0 w 777176"/>
              <a:gd name="connsiteY0" fmla="*/ 0 h 32258"/>
              <a:gd name="connsiteX1" fmla="*/ 777177 w 777176"/>
              <a:gd name="connsiteY1" fmla="*/ 0 h 32258"/>
              <a:gd name="connsiteX2" fmla="*/ 777177 w 777176"/>
              <a:gd name="connsiteY2" fmla="*/ 32258 h 32258"/>
              <a:gd name="connsiteX3" fmla="*/ 0 w 777176"/>
              <a:gd name="connsiteY3" fmla="*/ 32258 h 3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176" h="32258">
                <a:moveTo>
                  <a:pt x="0" y="0"/>
                </a:moveTo>
                <a:lnTo>
                  <a:pt x="777177" y="0"/>
                </a:lnTo>
                <a:lnTo>
                  <a:pt x="777177" y="32258"/>
                </a:lnTo>
                <a:lnTo>
                  <a:pt x="0" y="32258"/>
                </a:lnTo>
                <a:close/>
              </a:path>
            </a:pathLst>
          </a:custGeom>
          <a:solidFill>
            <a:srgbClr val="FFFFFF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9F67A2D9-5840-0B80-9BB6-87DBB51054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754996" y="6416687"/>
            <a:ext cx="1287780" cy="32004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l"/>
            <a:r>
              <a:rPr lang="en-US" sz="1500" spc="300" baseline="0" dirty="0">
                <a:ln/>
                <a:solidFill>
                  <a:srgbClr val="29547F"/>
                </a:solidFill>
                <a:latin typeface="Gama-Sans-Bold"/>
                <a:sym typeface="Gama-Sans-Bold"/>
              </a:rPr>
              <a:t>ugm.ac.id</a:t>
            </a:r>
            <a:endParaRPr lang="en-US" sz="1500" spc="300" baseline="0" dirty="0">
              <a:ln/>
              <a:solidFill>
                <a:srgbClr val="29547F"/>
              </a:solidFill>
              <a:latin typeface="Gama-Sans-Bold"/>
            </a:endParaRPr>
          </a:p>
        </p:txBody>
      </p:sp>
      <p:pic>
        <p:nvPicPr>
          <p:cNvPr id="2" name="Gambar 1" descr="Sebuah gambar berisi outdoor, langit, awan, rumput&#10;&#10;Konten yang dihasilkan AI mungkin salah.">
            <a:extLst>
              <a:ext uri="{FF2B5EF4-FFF2-40B4-BE49-F238E27FC236}">
                <a16:creationId xmlns:a16="http://schemas.microsoft.com/office/drawing/2014/main" id="{900127EE-31AD-C23B-D306-9269D75B78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814" t="-1657" r="12930" b="1795"/>
          <a:stretch>
            <a:fillRect/>
          </a:stretch>
        </p:blipFill>
        <p:spPr>
          <a:xfrm>
            <a:off x="9126481" y="838108"/>
            <a:ext cx="3089380" cy="3293383"/>
          </a:xfrm>
          <a:prstGeom prst="snip2DiagRect">
            <a:avLst/>
          </a:prstGeom>
        </p:spPr>
      </p:pic>
      <p:pic>
        <p:nvPicPr>
          <p:cNvPr id="6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A4C032CD-502B-1BFC-40E9-77E3734C104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81" y="512528"/>
            <a:ext cx="2449919" cy="693876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66A715A1-70F8-FD45-2367-8634FCEB7C0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08634" y="6186892"/>
            <a:ext cx="7343814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b="1" i="1" dirty="0" err="1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 dirty="0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dirty="0" err="1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 dirty="0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dirty="0" err="1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Berkelanjutan</a:t>
            </a:r>
            <a:endParaRPr lang="en-US" sz="1500" i="1" dirty="0">
              <a:ln/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550" b="1" i="1" dirty="0">
                <a:ln/>
                <a:solidFill>
                  <a:srgbClr val="FFFFFF"/>
                </a:solidFill>
                <a:ea typeface="+mn-lt"/>
                <a:cs typeface="+mn-lt"/>
                <a:sym typeface="Gama-Sans-Regular"/>
              </a:rPr>
              <a:t>Inclusive, </a:t>
            </a:r>
            <a:r>
              <a:rPr lang="en-US" sz="1550" b="1" i="1" dirty="0">
                <a:ln/>
                <a:solidFill>
                  <a:srgbClr val="FFFFFF"/>
                </a:solidFill>
                <a:ea typeface="+mn-lt"/>
                <a:cs typeface="+mn-lt"/>
              </a:rPr>
              <a:t>Self-Reliant, Sustainable </a:t>
            </a:r>
            <a:endParaRPr lang="en-US" sz="1550" dirty="0"/>
          </a:p>
          <a:p>
            <a:endParaRPr lang="en-US" sz="1500" b="1" i="1" dirty="0">
              <a:ln/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7621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—  LATAR BELAKANG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Butuh SPK untuk Pemilihan Lokasi?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Strategis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lokasi cabang berdampak jangka panjang terhadap biaya operasional, omzet, dan daya saing.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788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Banyak Kriteria Bertentangan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sewa rendah vs aksesibilitas tinggi, potensi pasar besar vs tingkat persaingan, dll.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77240" y="3977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4069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 Tinggi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251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metode formal, keputusan mudah bias dan sulit dipertanggungjawabkan.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5120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5212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54480" y="5074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Butuh Ranking Objektif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5394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menghasilkan prioritas lokasi secara terstruktur, transparan, dan dapat diulang.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—  TUJUAN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Pengembangan Sistem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Membangun aplikasi SPK berbasis web untuk pemilihan lokasi cabang baru secara interaktif.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2940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62940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Mengimplementasikan metode AHP untuk menghasilkan bobot kriteria yang konsisten.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3886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Mengimplementasikan metode TOPSIS untuk menghasilkan ranking lokasi yang optimal.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56616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9400" y="3886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29400" y="4434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Menyediakan antarmuka yang mudah digunakan (UI/UX) bagi pengambil keputusan.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LANDASAN TEORI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 Hierarchy Process (AHP)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Dikembangkan oleh Prof. Thomas L. Saaty (1980). Metode untuk menguraikan masalah kompleks menjadi hierarki dan menghasilkan bobot prioritas melalui pairwise comparison.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Decomposition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 hierarki: Goal → Kriteria → Alternatif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6616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Comparative Judgement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comparison dengan skala 1–9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465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Synthesis of Priority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Hitung bobot (priority vector) tiap elemen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8972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3268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Consistency 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2688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 ≤ 0.1 → penilaian konsisten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840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Perbandingan Berpasangan (Saaty)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548640" y="4251960"/>
          <a:ext cx="11064240" cy="11887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Intensitas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Sedikit lebih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Lebih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Sangat lebih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Mutlak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LANDASAN TEORI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for Order Preference by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to Ideal Solution (TOPSIS)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ranking yang memilih alternatif berdasarkan kedekatan dengan solusi ideal positif (A+) dan kejauhan dari solusi ideal negatif (A−).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194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Normalisasi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54880" y="21945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Matriks keputusan dinormalisasi secara vektor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Bobot × Normal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Kalikan dengan bobot kriteria (dari AHP)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886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+ / 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37490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Tentukan A+ (ideal) dan A− (anti-ideal)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46634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526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D+ / D−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54880" y="45262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Hitung jarak Euclidean ke A+ dan A−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54406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5303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 V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54880" y="53035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D− / (D+ + D−) → ranking tertinggi terbaik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KRITERIA &amp; ALTERNATIF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Penilaian Lokasi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3898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Sewa / Investasi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Semakin rendah biaya, semakin baik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418320" y="148132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418320" y="1527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331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258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Aksesibilitas &amp; Transportasi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560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Kemudahan akses &amp; moda transportasi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418320" y="235000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418320" y="23957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200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127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Potensi Pasar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&amp; daya beli konsumen potensial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18320" y="321868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418320" y="32644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7240" y="4069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Tingkat Persaingan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Semakin sedikit kompetitor, semakin baik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418320" y="40873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418320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77240" y="4937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&amp; Fasilitas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371600" y="5166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Ketersediaan utilitas &amp; fasilitas pendukung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418320" y="495604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418320" y="5001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KRITERIA &amp; ALTERNATIF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Alternatif Lokasi (Contoh)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Pusat Kota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sangat baik, pasar besar, biaya tinggi, kompetisi ketat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6656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B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766560" y="2103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Perkantoran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6560" y="25603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baik, pasar menengah-atas, biaya sedang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C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58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Pinggir Kota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7548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rendah, akses terbatas, pasar kecil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56616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0" y="356616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6656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D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76656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Dekat Kampus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0" y="47548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muda besar, akses sedang, biaya menengah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—  ARSITEKTUR SISTEM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Kerja Aplikasi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300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4300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Kriteria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+ tipe Benefit/Cost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14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78892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472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92608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AHP Pairwise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berpasangan + cek CR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12064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80644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80644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25780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Alternatif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5780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lokasi yang dibandingkan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78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5236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13816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13816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58952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Matriks Keputusan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tiap lokasi vs kriteria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5097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46988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46988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92124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TOPSIS Ranking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2124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ranking + visualisasi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Teknologi yang Digunakan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4864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HTML5 + CSS3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34340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34340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5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13816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13816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(Vanilla)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4864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34340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34340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AHP Algorithm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13816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13816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TOPSIS Algorithm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—  ANTARMUKA (UI/UX)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 Antarmuka Aplikasi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Wizard Step-by-Step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langkah berurutan dengan indikator progres yang jelas agar pengguna tidak bingung.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2628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2628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Interaktif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perbandingan berpasangan real-time, otomatis menghitung kebalikan &amp; konsistensi.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6676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676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Konsistensi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6676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Menampilkan CI, CR, dan status konsistensi AHP secara langsung.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580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Visual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dengan badge, kartu pemenang, dan grafik batang preference value.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2628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2628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Design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2628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Tampilan rapi di desktop maupun tablet menggunakan Bootstrap 5.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36676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36676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6676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Cetak &amp; Reset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6676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cetak hasil dan mulai ulang perhitungan dengan mudah.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—  CONTOH HASIL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Perangkingan Lokasi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TERBAIK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A — Pusat Kota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 Value (V) tertinggi berdasarkan kedekatan ke solusi ideal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548640" y="2743200"/>
          <a:ext cx="11064240" cy="3200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D+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D−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Preference (V)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A - Pusat Kota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E40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D - Dekat Kampus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B - Area Perkantoran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C - Pinggir Kota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8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—  KESIMPULAN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&amp; Manfaat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58191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673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SPK berhasil mengintegrasikan AHP (pembobotan) dan TOPSIS (ranking) dalam satu alur yang terstruktur.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245059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2542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dapat dengan mudah memasukkan kriteria, melakukan pairwise comparison, mengisi nilai, dan mendapatkan ranking secara otomatis.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7240" y="331927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4107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33375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konsistensi AHP (CR ≤ 0.1) memastikan bobot yang digunakan dapat diandalkan.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7240" y="418795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279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4206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ranking bersifat transparan dan dapat dipertanggungjawabkan, mendukung pengambilan keputusan lokasi cabang secara lebih objektif.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76200" dist="127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77240" y="505663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" y="5148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5074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Antarmuka wizard step-by-step + visualisasi grafik membuat sistem ramah pengguna bahkan bagi non-teknis.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ambar 10">
            <a:extLst>
              <a:ext uri="{FF2B5EF4-FFF2-40B4-BE49-F238E27FC236}">
                <a16:creationId xmlns:a16="http://schemas.microsoft.com/office/drawing/2014/main" id="{100CA039-AF2A-9C6A-2582-0EE37EC935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t="7714" r="80" b="14657"/>
          <a:stretch>
            <a:fillRect/>
          </a:stretch>
        </p:blipFill>
        <p:spPr>
          <a:xfrm>
            <a:off x="6875156" y="-6287"/>
            <a:ext cx="5775366" cy="6868962"/>
          </a:xfrm>
          <a:prstGeom prst="rect">
            <a:avLst/>
          </a:prstGeom>
          <a:ln>
            <a:noFill/>
          </a:ln>
        </p:spPr>
      </p:pic>
      <p:pic>
        <p:nvPicPr>
          <p:cNvPr id="5" name="Gambar 4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A2B85579-1638-0D93-AFBB-80A75D88CC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233" y="999854"/>
            <a:ext cx="3716965" cy="1052724"/>
          </a:xfrm>
          <a:prstGeom prst="rect">
            <a:avLst/>
          </a:prstGeom>
        </p:spPr>
      </p:pic>
      <p:sp>
        <p:nvSpPr>
          <p:cNvPr id="6" name="TextBox 380">
            <a:extLst>
              <a:ext uri="{FF2B5EF4-FFF2-40B4-BE49-F238E27FC236}">
                <a16:creationId xmlns:a16="http://schemas.microsoft.com/office/drawing/2014/main" id="{ECBBAC12-E256-1890-E7DE-496F608A0CDB}"/>
              </a:ext>
            </a:extLst>
          </p:cNvPr>
          <p:cNvSpPr txBox="1"/>
          <p:nvPr/>
        </p:nvSpPr>
        <p:spPr>
          <a:xfrm>
            <a:off x="495354" y="2794632"/>
            <a:ext cx="5572611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 err="1">
                <a:ln/>
                <a:solidFill>
                  <a:srgbClr val="FFFFFF"/>
                </a:solidFill>
                <a:latin typeface="Gama-Sans-Regular"/>
                <a:sym typeface="Gama-Sans-Light-Italic"/>
              </a:rPr>
              <a:t>Demonstrasi</a:t>
            </a:r>
            <a:r>
              <a:rPr lang="en-US" sz="3200" dirty="0">
                <a:ln/>
                <a:solidFill>
                  <a:srgbClr val="FFFFFF"/>
                </a:solidFill>
                <a:latin typeface="Gama-Sans-Regular"/>
                <a:sym typeface="Gama-Sans-Light-Italic"/>
              </a:rPr>
              <a:t> </a:t>
            </a:r>
            <a:r>
              <a:rPr lang="en-US" sz="3200" dirty="0" err="1">
                <a:ln/>
                <a:solidFill>
                  <a:srgbClr val="FFFFFF"/>
                </a:solidFill>
                <a:latin typeface="Gama-Sans-Regular"/>
                <a:sym typeface="Gama-Sans-Light-Italic"/>
              </a:rPr>
              <a:t>Aplikasi</a:t>
            </a:r>
            <a:endParaRPr lang="en-US" sz="3200" spc="0" baseline="0" dirty="0">
              <a:ln/>
              <a:solidFill>
                <a:srgbClr val="FFFFFF"/>
              </a:solidFill>
              <a:latin typeface="Gama-Sans-Regular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35F08B81-B080-4F2B-1731-DC82286836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153363" y="6193334"/>
            <a:ext cx="1287780" cy="3200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500" spc="300" baseline="0" dirty="0">
                <a:ln/>
                <a:solidFill>
                  <a:srgbClr val="FFFFFF"/>
                </a:solidFill>
                <a:latin typeface="Gama-Sans-Bold"/>
                <a:sym typeface="Gama-Sans-Bold"/>
                <a:rtl val="0"/>
              </a:rPr>
              <a:t>ugm.ac.id</a:t>
            </a:r>
          </a:p>
        </p:txBody>
      </p:sp>
      <p:sp>
        <p:nvSpPr>
          <p:cNvPr id="3" name="TextBox 372">
            <a:extLst>
              <a:ext uri="{FF2B5EF4-FFF2-40B4-BE49-F238E27FC236}">
                <a16:creationId xmlns:a16="http://schemas.microsoft.com/office/drawing/2014/main" id="{FA87A70C-2EF3-D1E6-DC25-0D7FB5ED36A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5343" y="5956091"/>
            <a:ext cx="3936966" cy="8002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b="1" i="1" dirty="0" err="1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Merakyat</a:t>
            </a:r>
            <a:r>
              <a:rPr lang="en-US" sz="1500" b="1" i="1" dirty="0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dirty="0" err="1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Mandiri</a:t>
            </a:r>
            <a:r>
              <a:rPr lang="en-US" sz="1500" b="1" i="1" dirty="0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, </a:t>
            </a:r>
            <a:r>
              <a:rPr lang="en-US" sz="1500" b="1" i="1" dirty="0" err="1">
                <a:ln/>
                <a:solidFill>
                  <a:srgbClr val="FFFFFF"/>
                </a:solidFill>
                <a:latin typeface="Gama-Sans-Bold"/>
                <a:sym typeface="Gama-Sans-Regular"/>
              </a:rPr>
              <a:t>Berkelanjutan</a:t>
            </a:r>
            <a:endParaRPr lang="en-US" sz="1500" i="1" dirty="0">
              <a:ln/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550" b="1" i="1" dirty="0">
                <a:ln/>
                <a:solidFill>
                  <a:srgbClr val="FFFFFF"/>
                </a:solidFill>
                <a:ea typeface="+mn-lt"/>
                <a:cs typeface="+mn-lt"/>
                <a:sym typeface="Gama-Sans-Regular"/>
              </a:rPr>
              <a:t>Inclusive, </a:t>
            </a:r>
            <a:r>
              <a:rPr lang="en-US" sz="1550" b="1" i="1" dirty="0">
                <a:ln/>
                <a:solidFill>
                  <a:srgbClr val="FFFFFF"/>
                </a:solidFill>
                <a:ea typeface="+mn-lt"/>
                <a:cs typeface="+mn-lt"/>
              </a:rPr>
              <a:t>Self-Reliant, Sustainable </a:t>
            </a:r>
            <a:endParaRPr lang="en-US" sz="1550" dirty="0"/>
          </a:p>
          <a:p>
            <a:endParaRPr lang="en-US" sz="1500" b="1" i="1" dirty="0">
              <a:ln/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Freeform 408">
            <a:extLst>
              <a:ext uri="{FF2B5EF4-FFF2-40B4-BE49-F238E27FC236}">
                <a16:creationId xmlns:a16="http://schemas.microsoft.com/office/drawing/2014/main" id="{7D628843-9E25-0CF8-18E5-0A787060990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35" y="6683395"/>
            <a:ext cx="12187364" cy="170174"/>
          </a:xfrm>
          <a:custGeom>
            <a:avLst/>
            <a:gdLst>
              <a:gd name="connsiteX0" fmla="*/ 0 w 12187364"/>
              <a:gd name="connsiteY0" fmla="*/ 0 h 157797"/>
              <a:gd name="connsiteX1" fmla="*/ 12187364 w 12187364"/>
              <a:gd name="connsiteY1" fmla="*/ 0 h 157797"/>
              <a:gd name="connsiteX2" fmla="*/ 12187364 w 12187364"/>
              <a:gd name="connsiteY2" fmla="*/ 157798 h 157797"/>
              <a:gd name="connsiteX3" fmla="*/ 0 w 12187364"/>
              <a:gd name="connsiteY3" fmla="*/ 157798 h 157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7364" h="157797">
                <a:moveTo>
                  <a:pt x="0" y="0"/>
                </a:moveTo>
                <a:lnTo>
                  <a:pt x="12187364" y="0"/>
                </a:lnTo>
                <a:lnTo>
                  <a:pt x="12187364" y="157798"/>
                </a:lnTo>
                <a:lnTo>
                  <a:pt x="0" y="157798"/>
                </a:lnTo>
                <a:close/>
              </a:path>
            </a:pathLst>
          </a:custGeom>
          <a:solidFill>
            <a:srgbClr val="FDD402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Lingkaran: Berongga 11">
            <a:extLst>
              <a:ext uri="{FF2B5EF4-FFF2-40B4-BE49-F238E27FC236}">
                <a16:creationId xmlns:a16="http://schemas.microsoft.com/office/drawing/2014/main" id="{42D41C85-A324-0589-5C77-6CC38D3BF67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340839" y="-646099"/>
            <a:ext cx="1442809" cy="1499716"/>
          </a:xfrm>
          <a:prstGeom prst="donut">
            <a:avLst/>
          </a:prstGeom>
          <a:solidFill>
            <a:srgbClr val="1D4F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7997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982</Words>
  <Application>Microsoft Macintosh PowerPoint</Application>
  <PresentationFormat>Widescreen</PresentationFormat>
  <Paragraphs>222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Arial</vt:lpstr>
      <vt:lpstr>Calibri</vt:lpstr>
      <vt:lpstr>Gama-Sans</vt:lpstr>
      <vt:lpstr>Gama-Sans-Bold</vt:lpstr>
      <vt:lpstr>Gama-Sans-Regular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Jaza Akmala</dc:creator>
  <cp:lastModifiedBy>Andreas Anditya Purnama</cp:lastModifiedBy>
  <cp:revision>6</cp:revision>
  <dcterms:created xsi:type="dcterms:W3CDTF">2026-07-15T07:47:35Z</dcterms:created>
  <dcterms:modified xsi:type="dcterms:W3CDTF">2026-10-10T07:03:41Z</dcterms:modified>
</cp:coreProperties>
</file>