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97"/>
    <p:restoredTop sz="94610"/>
  </p:normalViewPr>
  <p:slideViewPr>
    <p:cSldViewPr snapToGrid="0" snapToObjects="1">
      <p:cViewPr varScale="1">
        <p:scale>
          <a:sx n="121" d="100"/>
          <a:sy n="121" d="100"/>
        </p:scale>
        <p:origin x="30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172352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300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 PENDUKUNG KEPUTUSAN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19456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Pemilihan Lokasi Usaha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Cabang Baru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9319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Metode Analytic Hierarchy Process (AHP)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Technique for Order Preference by Similarity to Ideal Solution (TOPSIS)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120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Andreas Anditya </a:t>
            </a:r>
            <a:r>
              <a:rPr lang="en-US" sz="1400" dirty="0" err="1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Purnama</a:t>
            </a:r>
            <a:r>
              <a:rPr lang="en-US" sz="14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- 572392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—  LATAR BELAKANG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Mengapa Butuh SPK untuk Pemilihan Lokasi?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" y="1783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54480" y="164592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Keputusan Strategis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54480" y="19659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Pemilihan lokasi cabang berdampak jangka panjang terhadap biaya operasional, omzet, dan daya saing.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60604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77240" y="283464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54480" y="278892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Banyak Kriteria Bertentangan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54480" y="31089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Biaya sewa rendah vs aksesibilitas tinggi, potensi pasar besar vs tingkat persaingan, dll.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74904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77240" y="397764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77240" y="4069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54480" y="393192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Subjektivitas Tinggi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54480" y="42519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Tanpa metode formal, keputusan mudah bias dan sulit dipertanggungjawabkan.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77240" y="512064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77240" y="5212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554480" y="507492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Butuh Ranking Objektif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554480" y="53949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 menghasilkan prioritas lokasi secara terstruktur, transparan, dan dapat diulang.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7200" y="65653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743200" y="656539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 · AHP + TOPSIS · Pemilihan Lokasi Cabang Baru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—  TUJUAN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Tujuan Pengembangan Sistem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68680" y="18745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68680" y="2423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Membangun aplikasi SPK berbasis web untuk pemilihan lokasi cabang baru secara interaktif.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554480"/>
            <a:ext cx="54864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629400" y="18745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629400" y="2423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Mengimplementasikan metode AHP untuk menghasilkan bobot kriteria yang konsisten.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566160"/>
            <a:ext cx="54864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38862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44348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Mengimplementasikan metode TOPSIS untuk menghasilkan ranking lokasi yang optimal.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09360" y="3566160"/>
            <a:ext cx="54864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629400" y="38862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629400" y="44348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Menyediakan antarmuka yang mudah digunakan (UI/UX) bagi pengambil keputusan.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65653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743200" y="656539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 · AHP + TOPSIS · Pemilihan Lokasi Cabang Baru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—  LANDASAN TEORI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 Hierarchy Process (AHP)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Dikembangkan oleh Prof. Thomas L. Saaty (1980). Metode untuk menguraikan masalah kompleks menjadi hierarki dan menghasilkan bobot prioritas melalui pairwise comparison.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743200" cy="1645920"/>
          </a:xfrm>
          <a:prstGeom prst="roundRect">
            <a:avLst>
              <a:gd name="adj" fmla="val 5556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Decomposition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2697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Susun hierarki: Goal → Kriteria → Alternatif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29000" y="1920240"/>
            <a:ext cx="2743200" cy="1645920"/>
          </a:xfrm>
          <a:prstGeom prst="roundRect">
            <a:avLst>
              <a:gd name="adj" fmla="val 5556"/>
            </a:avLst>
          </a:prstGeom>
          <a:solidFill>
            <a:srgbClr val="1E3A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56616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Comparative Judgement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566160" y="2697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Pairwise comparison dengan skala 1–9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09360" y="1920240"/>
            <a:ext cx="2743200" cy="1645920"/>
          </a:xfrm>
          <a:prstGeom prst="roundRect">
            <a:avLst>
              <a:gd name="adj" fmla="val 5556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4652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Synthesis of Priority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46520" y="2697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Hitung bobot (priority vector) tiap elemen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189720" y="1920240"/>
            <a:ext cx="2743200" cy="1645920"/>
          </a:xfrm>
          <a:prstGeom prst="roundRect">
            <a:avLst>
              <a:gd name="adj" fmla="val 5556"/>
            </a:avLst>
          </a:prstGeom>
          <a:solidFill>
            <a:srgbClr val="1E3A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32688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Consistency Check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326880" y="2697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 ≤ 0.1 → penilaian konsisten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3840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Skala Perbandingan Berpasangan (Saaty)</a:t>
            </a:r>
            <a:endParaRPr lang="en-US" sz="15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51960"/>
          <a:ext cx="11064240" cy="118872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Intensitas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Arti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 penting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Sedikit lebih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Lebih penting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Sangat lebih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Mutlak penting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457200" y="65653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743200" y="656539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 · AHP + TOPSIS · Pemilihan Lokasi Cabang Baru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—  LANDASAN TEORI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Technique for Order Preference by</a:t>
            </a:r>
            <a:endParaRPr lang="en-US" sz="2400" dirty="0"/>
          </a:p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 to Ideal Solution (TOPSIS)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Metode ranking yang memilih alternatif berdasarkan kedekatan dengan solusi ideal positif (A+) dan kejauhan dari solusi ideal negatif (A−).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502920" cy="50292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21945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Normalisasi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54880" y="21945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Matriks keputusan dinormalisasi secara vektor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017520"/>
            <a:ext cx="502920" cy="50292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29718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Bobot × Normal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29718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Kalikan dengan bobot kriteria (dari AHP)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794760"/>
            <a:ext cx="502920" cy="50292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388620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3749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+ / −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754880" y="37490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Tentukan A+ (ideal) dan A− (anti-ideal)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572000"/>
            <a:ext cx="502920" cy="50292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0080" y="46634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371600" y="4526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Jarak D+ / D−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754880" y="45262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Hitung jarak Euclidean ke A+ dan A−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" y="5349240"/>
            <a:ext cx="502920" cy="50292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40080" y="54406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371600" y="5303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Preference V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754880" y="530352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 = D− / (D+ + D−) → ranking tertinggi terbaik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57200" y="65653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743200" y="656539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 · AHP + TOPSIS · Pemilihan Lokasi Cabang Baru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—  KRITERIA &amp; ALTERNATIF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Kriteria Penilaian Lokasi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blurRad="76200" dist="127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" y="138988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Biaya Sewa / Investasi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7160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Semakin rendah biaya, semakin baik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418320" y="1481328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418320" y="15270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14884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blurRad="76200" dist="127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331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71600" y="225856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Aksesibilitas &amp; Transportasi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71600" y="2560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Kemudahan akses &amp; moda transportasi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418320" y="2350008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418320" y="23957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01752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blurRad="76200" dist="127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77240" y="320040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71600" y="312724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Potensi Pasar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71600" y="3429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&amp; daya beli konsumen potensial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418320" y="3218688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418320" y="32644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8862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blurRad="76200" dist="127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77240" y="40690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371600" y="399592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Tingkat Persaingan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371600" y="4297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Semakin sedikit kompetitor, semakin baik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418320" y="4087368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9418320" y="4133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47548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blurRad="76200" dist="127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77240" y="49377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371600" y="486460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Infrastruktur &amp; Fasilitas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371600" y="5166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Ketersediaan utilitas &amp; fasilitas pendukung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418320" y="4956048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9418320" y="50017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57200" y="65653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2743200" y="656539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 · AHP + TOPSIS · Pemilihan Lokasi Cabang Baru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—  KRITERIA &amp; ALTERNATIF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Alternatif Lokasi (Contoh)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48640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64592" cy="1965960"/>
          </a:xfrm>
          <a:prstGeom prst="roundRect">
            <a:avLst>
              <a:gd name="adj" fmla="val 27778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691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Lokasi 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05840" y="21031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Pusat Kota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256032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Akses sangat baik, pasar besar, biaya tinggi, kompetisi ketat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1371600"/>
            <a:ext cx="548640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309360" y="1371600"/>
            <a:ext cx="164592" cy="1965960"/>
          </a:xfrm>
          <a:prstGeom prst="roundRect">
            <a:avLst>
              <a:gd name="adj" fmla="val 27778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766560" y="1691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Lokasi B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766560" y="21031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Area Perkantoran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766560" y="256032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Akses baik, pasar menengah-atas, biaya sedang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548640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48640" y="3566160"/>
            <a:ext cx="164592" cy="1965960"/>
          </a:xfrm>
          <a:prstGeom prst="roundRect">
            <a:avLst>
              <a:gd name="adj" fmla="val 27778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005840" y="3886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Lokasi C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005840" y="4297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Pinggir Kota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05840" y="47548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Biaya rendah, akses terbatas, pasar kecil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09360" y="3566160"/>
            <a:ext cx="548640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309360" y="3566160"/>
            <a:ext cx="164592" cy="1965960"/>
          </a:xfrm>
          <a:prstGeom prst="roundRect">
            <a:avLst>
              <a:gd name="adj" fmla="val 27778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766560" y="3886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Lokasi D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766560" y="4297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Dekat Kampus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766560" y="47548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Pasar muda besar, akses sedang, biaya menengah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7200" y="65653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743200" y="656539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 · AHP + TOPSIS · Pemilihan Lokasi Cabang Baru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—  ARSITEKTUR SISTEM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Alur Kerja Aplikasi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148840" cy="219456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43000" y="1920240"/>
            <a:ext cx="777240" cy="77724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43000" y="210312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94360" y="28803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Kriteria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32461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Nama + tipe Benefit/Cost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51460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788920" y="1645920"/>
            <a:ext cx="2148840" cy="219456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474720" y="1920240"/>
            <a:ext cx="777240" cy="77724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474720" y="210312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926080" y="28803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AHP Pairwise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926080" y="32461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Perbandingan berpasangan + cek CR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120640" y="1645920"/>
            <a:ext cx="2148840" cy="219456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806440" y="1920240"/>
            <a:ext cx="777240" cy="77724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806440" y="210312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257800" y="28803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Alternatif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257800" y="32461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Daftar lokasi yang dibandingkan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17804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452360" y="1645920"/>
            <a:ext cx="2148840" cy="219456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8138160" y="1920240"/>
            <a:ext cx="777240" cy="77724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138160" y="210312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589520" y="28803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Matriks Keputusan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589520" y="32461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Nilai tiap lokasi vs kriteria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50976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9784080" y="1645920"/>
            <a:ext cx="2148840" cy="219456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10469880" y="1920240"/>
            <a:ext cx="777240" cy="77724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0469880" y="210312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9921240" y="28803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TOPSIS Ranking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921240" y="32461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Hasil ranking + visualisasi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4864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Teknologi yang Digunakan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48640" y="4709160"/>
            <a:ext cx="3566160" cy="502920"/>
          </a:xfrm>
          <a:prstGeom prst="roundRect">
            <a:avLst>
              <a:gd name="adj" fmla="val 14545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48640" y="48006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HTML5 + CSS3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4343400" y="4709160"/>
            <a:ext cx="3566160" cy="502920"/>
          </a:xfrm>
          <a:prstGeom prst="roundRect">
            <a:avLst>
              <a:gd name="adj" fmla="val 14545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343400" y="48006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Bootstrap 5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8138160" y="4709160"/>
            <a:ext cx="3566160" cy="502920"/>
          </a:xfrm>
          <a:prstGeom prst="roundRect">
            <a:avLst>
              <a:gd name="adj" fmla="val 14545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8138160" y="48006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JavaScript (Vanilla)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548640" y="5349240"/>
            <a:ext cx="3566160" cy="502920"/>
          </a:xfrm>
          <a:prstGeom prst="roundRect">
            <a:avLst>
              <a:gd name="adj" fmla="val 14545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548640" y="54406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Chart.js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4343400" y="5349240"/>
            <a:ext cx="3566160" cy="502920"/>
          </a:xfrm>
          <a:prstGeom prst="roundRect">
            <a:avLst>
              <a:gd name="adj" fmla="val 14545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343400" y="54406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AHP Algorithm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8138160" y="5349240"/>
            <a:ext cx="3566160" cy="502920"/>
          </a:xfrm>
          <a:prstGeom prst="roundRect">
            <a:avLst>
              <a:gd name="adj" fmla="val 14545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8138160" y="54406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TOPSIS Algorithm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57200" y="65653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2743200" y="656539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 · AHP + TOPSIS · Pemilihan Lokasi Cabang Baru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—  ANTARMUKA (UI/UX)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Desain Antarmuka Aplikasi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65760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85800" y="16459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17190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2286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Wizard Step-by-Step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6974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langkah berurutan dengan indikator progres yang jelas agar pengguna tidak bingung.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1371600"/>
            <a:ext cx="365760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26280" y="16459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26280" y="17190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26280" y="2286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Pairwise Interaktif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26280" y="26974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perbandingan berpasangan real-time, otomatis menghitung kebalikan &amp; konsistensi.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38160" y="1371600"/>
            <a:ext cx="365760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366760" y="16459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366760" y="17190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66760" y="2286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Validasi Konsistensi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66760" y="26974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Menampilkan CI, CR, dan status konsistensi AHP secara langsung.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365760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85800" y="39319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85800" y="40050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5800" y="4572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Hasil Visual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85800" y="49834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 dengan badge, kartu pemenang, dan grafik batang preference value.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297680" y="3657600"/>
            <a:ext cx="365760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526280" y="39319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526280" y="40050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26280" y="4572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 Design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526280" y="49834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Tampilan rapi di desktop maupun tablet menggunakan Bootstrap 5.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138160" y="3657600"/>
            <a:ext cx="365760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8366760" y="39319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366760" y="40050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366760" y="4572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Cetak &amp; Reset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366760" y="49834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Fitur cetak hasil dan mulai ulang perhitungan dengan mudah.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57200" y="65653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2743200" y="656539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 · AHP + TOPSIS · Pemilihan Lokasi Cabang Baru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—  CONTOH HASIL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 Perangkingan Lokasi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ECFD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1417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LOKASI TERBAIK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17373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Lokasi A — Pusat Kota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214884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Preference Value (V) tertinggi berdasarkan kedekatan ke solusi ideal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11064240" cy="32004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Lokasi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D+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D−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Preference (V)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40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B4530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Lokasi A - Pusat Kota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0.xxxx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0.xxxx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E40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0.7xxx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Lokasi D - Dekat Kampus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0.xxxx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0.xxxx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0.6xxx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Lokasi B - Area Perkantoran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0.xxxx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0.xxxx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0.5xxx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Lokasi C - Pinggir Kota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0.xxxx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0.xxxx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0.3xxx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57200" y="65653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1100" dirty="0"/>
          </a:p>
        </p:txBody>
      </p:sp>
      <p:sp>
        <p:nvSpPr>
          <p:cNvPr id="8" name="Text 8"/>
          <p:cNvSpPr/>
          <p:nvPr/>
        </p:nvSpPr>
        <p:spPr>
          <a:xfrm>
            <a:off x="2743200" y="656539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 · AHP + TOPSIS · Pemilihan Lokasi Cabang Baru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—  KESIMPULAN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 &amp; Manfaat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blurRad="76200" dist="127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1581912"/>
            <a:ext cx="457200" cy="45720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" y="16733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63040" y="16002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Aplikasi SPK berhasil mengintegrasikan AHP (pembobotan) dan TOPSIS (ranking) dalam satu alur yang terstruktur.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blurRad="76200" dist="127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77240" y="2450592"/>
            <a:ext cx="457200" cy="45720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77240" y="2542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63040" y="24688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Pengguna dapat dengan mudah memasukkan kriteria, melakukan pairwise comparison, mengisi nilai, dan mendapatkan ranking secara otomatis.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154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blurRad="76200" dist="127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77240" y="3319272"/>
            <a:ext cx="457200" cy="45720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77240" y="34107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63040" y="333756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Validasi konsistensi AHP (CR ≤ 0.1) memastikan bobot yang digunakan dapat diandalkan.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blurRad="76200" dist="127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77240" y="4187952"/>
            <a:ext cx="457200" cy="45720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77240" y="4279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63040" y="42062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Hasil ranking bersifat transparan dan dapat dipertanggungjawabkan, mendukung pengambilan keputusan lokasi cabang secara lebih objektif.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89204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blurRad="76200" dist="127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77240" y="5056632"/>
            <a:ext cx="457200" cy="45720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77240" y="5148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63040" y="5074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Antarmuka wizard step-by-step + visualisasi grafik membuat sistem ramah pengguna bahkan bagi non-teknis.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7200" y="65653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743200" y="656539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 · AHP + TOPSIS · Pemilihan Lokasi Cabang Baru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TERIMA KASIH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108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Siap untuk </a:t>
            </a:r>
            <a:r>
              <a:rPr lang="en-US" sz="1800" dirty="0" err="1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demonstrasi</a:t>
            </a: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800" dirty="0" err="1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aplikasi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5029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 Pendukung Keputusan  ·  AHP + TOPSIS  ·  Pemilihan Lokasi Cabang Baru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1019</Words>
  <Application>Microsoft Macintosh PowerPoint</Application>
  <PresentationFormat>Widescreen</PresentationFormat>
  <Paragraphs>234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4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UGM / Computer Sciences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SPK Pemilihan Lokasi Cabang Baru - AHP + TOPSIS</dc:title>
  <dc:subject>PptxGenJS Presentation</dc:subject>
  <dc:creator>Sistem Pendukung Keputusan</dc:creator>
  <cp:lastModifiedBy>Andreas Anditya Purnama</cp:lastModifiedBy>
  <cp:revision>3</cp:revision>
  <dcterms:created xsi:type="dcterms:W3CDTF">2026-10-07T19:13:37Z</dcterms:created>
  <dcterms:modified xsi:type="dcterms:W3CDTF">2026-10-09T16:40:46Z</dcterms:modified>
</cp:coreProperties>
</file>