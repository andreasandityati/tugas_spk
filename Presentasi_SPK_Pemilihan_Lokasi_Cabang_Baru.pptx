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PENDUKUNG KEPUTUSAN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Lokasi Usaha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Cabang Baru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Analytic Hierarchy Process (AHP)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Technique for Order Preference by Similarity to Ideal Solution (TOPSIS)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Proyek Tugas Sistem Pendukung Keputusan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—  LATAR BELAKANG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Butuh SPK untuk Pemilihan Lokasi?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Strategis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lokasi cabang berdampak jangka panjang terhadap biaya operasional, omzet, dan daya saing.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788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Banyak Kriteria Bertentangan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108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sewa rendah vs aksesibilitas tinggi, potensi pasar besar vs tingkat persaingan, dll.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977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69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 Tinggi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251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metode formal, keputusan mudah bias dan sulit dipertanggungjawabkan.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20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212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54480" y="5074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Butuh Ranking Objektif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5394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menghasilkan prioritas lokasi secara terstruktur, transparan, dan dapat diulang.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—  TUJUAN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Pengembangan Sistem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Membangun aplikasi SPK berbasis web untuk pemilihan lokasi cabang baru secara interaktif.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629400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Mengimplementasikan metode AHP untuk menghasilkan bobot kriteria yang konsisten.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886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Mengimplementasikan metode TOPSIS untuk menghasilkan ranking lokasi yang optimal.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566160"/>
            <a:ext cx="5486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29400" y="3886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29400" y="4434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Menyediakan antarmuka yang mudah digunakan (UI/UX) bagi pengambil keputusan.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LANDASAN TEORI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 Hierarchy Process (AHP)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Dikembangkan oleh Prof. Thomas L. Saaty (1980). Metode untuk menguraikan masalah kompleks menjadi hierarki dan menghasilkan bobot prioritas melalui pairwise comparison.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Decomposition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 hierarki: Goal → Kriteria → Alternatif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Comparative Judgement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comparison dengan skala 1–9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Synthesis of Priority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Hitung bobot (priority vector) tiap elemen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89720" y="192024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1E3A8A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Consistency 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26880" y="2697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 ≤ 0.1 → penilaian konsisten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840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Perbandingan Berpasangan (Saaty)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11064240" cy="11887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920240"/>
                <a:gridCol w="1828800"/>
                <a:gridCol w="182880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Intensitas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Sedikit lebih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Lebih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Sangat lebih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Mutlak penting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LANDASAN TEORI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for Order Preference by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to Ideal Solution (TOPSIS)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ranking yang memilih alternatif berdasarkan kedekatan dengan solusi ideal positif (A+) dan kejauhan dari solusi ideal negatif (A−).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317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194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Normalisasi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54880" y="21945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Matriks keputusan dinormalisasi secara vektor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089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Bobot × Normal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Kalikan dengan bobot kriteria (dari AHP)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86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+ / 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37490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Tentukan A+ (ideal) dan A− (anti-ideal)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6634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526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D+ / D−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54880" y="45262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Hitung jarak Euclidean ke A+ dan A−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4406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5303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 V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54880" y="53035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D− / (D+ + D−) → ranking tertinggi terbaik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KRITERIA &amp; ALTERNATIF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Penilaian Lokasi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463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3898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Sewa / Investasi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Semakin rendah biaya, semakin baik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418320" y="148132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9418320" y="1527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331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258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Aksesibilitas &amp; Transportasi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560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Kemudahan akses &amp; moda transportasi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418320" y="235000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418320" y="23957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200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127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Potensi Pasar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&amp; daya beli konsumen potensial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18320" y="321868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32644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40690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Tingkat Persaingan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Semakin sedikit kompetitor, semakin baik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418320" y="40873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9418320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4937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 &amp; Fasilitas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371600" y="5166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Ketersediaan utilitas &amp; fasilitas pendukung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418320" y="495604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9418320" y="5001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KRITERIA &amp; ALTERNATIF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Alternatif Lokasi (Contoh)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Pusat Kota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sangat baik, pasar besar, biaya tinggi, kompetisi ketat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37160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B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766560" y="2103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Perkantoran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6560" y="25603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baik, pasar menengah-atas, biaya sedang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56616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C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584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Pinggir Kota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7548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rendah, akses terbatas, pasar kecil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356616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3566160"/>
            <a:ext cx="164592" cy="1965960"/>
          </a:xfrm>
          <a:prstGeom prst="roundRect">
            <a:avLst>
              <a:gd name="adj" fmla="val 27778"/>
            </a:avLst>
          </a:prstGeom>
          <a:solidFill>
            <a:srgbClr val="1E40AF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D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76656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Dekat Kampus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66560" y="47548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muda besar, akses sedang, biaya menengah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—  ARSITEKTUR SISTEM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Kerja Aplikasi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Kriteria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+ tipe Benefit/Cost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14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78892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92608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AHP Pairwise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berpasangan + cek CR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12064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0644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25780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Alternatif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5780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lokasi yang dibandingkan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78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5236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816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4" name="Text 22"/>
          <p:cNvSpPr/>
          <p:nvPr/>
        </p:nvSpPr>
        <p:spPr>
          <a:xfrm>
            <a:off x="813816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58952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Matriks Keputusan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tiap lokasi vs kriteria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5097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48840" cy="21945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69880" y="1920240"/>
            <a:ext cx="777240" cy="7772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0" name="Text 28"/>
          <p:cNvSpPr/>
          <p:nvPr/>
        </p:nvSpPr>
        <p:spPr>
          <a:xfrm>
            <a:off x="1046988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921240" y="2880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TOPSIS Ranking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21240" y="32461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ranking + visualisasi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Teknologi yang Digunakan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4864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HTML5 + CSS3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34340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</p:sp>
      <p:sp>
        <p:nvSpPr>
          <p:cNvPr id="37" name="Text 35"/>
          <p:cNvSpPr/>
          <p:nvPr/>
        </p:nvSpPr>
        <p:spPr>
          <a:xfrm>
            <a:off x="434340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5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138160" y="47091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</p:sp>
      <p:sp>
        <p:nvSpPr>
          <p:cNvPr id="39" name="Text 37"/>
          <p:cNvSpPr/>
          <p:nvPr/>
        </p:nvSpPr>
        <p:spPr>
          <a:xfrm>
            <a:off x="8138160" y="4800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(Vanilla)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Chart.js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34340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</p:sp>
      <p:sp>
        <p:nvSpPr>
          <p:cNvPr id="43" name="Text 41"/>
          <p:cNvSpPr/>
          <p:nvPr/>
        </p:nvSpPr>
        <p:spPr>
          <a:xfrm>
            <a:off x="434340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AHP Algorithm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138160" y="534924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E40AF"/>
          </a:solidFill>
          <a:ln/>
        </p:spPr>
      </p:sp>
      <p:sp>
        <p:nvSpPr>
          <p:cNvPr id="45" name="Text 43"/>
          <p:cNvSpPr/>
          <p:nvPr/>
        </p:nvSpPr>
        <p:spPr>
          <a:xfrm>
            <a:off x="813816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TOPSIS Algorithm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—  ANTARMUKA (UI/UX)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 Antarmuka Aplikasi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Wizard Step-by-Step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langkah berurutan dengan indikator progres yang jelas agar pengguna tidak bingung.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Interaktif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perbandingan berpasangan real-time, otomatis menghitung kebalikan &amp; konsistensi.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371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645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719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Konsistensi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66760" y="2697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Menampilkan CI, CR, dan status konsistensi AHP secara langsung.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Visual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dengan badge, kartu pemenang, dan grafik batang preference value.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Design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2628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Tampilan rapi di desktop maupun tablet menggunakan Bootstrap 5.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657600"/>
            <a:ext cx="3657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6760" y="39319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40050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6676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Cetak &amp; Reset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66760" y="4983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cetak hasil dan mulai ulang perhitungan dengan mudah.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—  CONTOH HASIL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Perangkingan Lokasi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CFD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TERBAIK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A — Pusat Kota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 Value (V) tertinggi berdasarkan kedekatan ke solusi ideal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4114800"/>
                <a:gridCol w="1828800"/>
                <a:gridCol w="182880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D+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D−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Preference (V)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40A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A - Pusat Kota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40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D - Dekat Kampus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B - Area Perkantoran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Lokasi C - Pinggir Kota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0.xxxx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0.3xxx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—  KESIMPULAN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&amp; Manfaat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8191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73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SPK berhasil mengintegrasikan AHP (pembobotan) dan TOPSIS (ranking) dalam satu alur yang terstruktur.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45059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542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dapat dengan mudah memasukkan kriteria, melakukan pairwise comparison, mengisi nilai, dan mendapatkan ranking secara otomatis.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31927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4107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33375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konsistensi AHP (CR ≤ 0.1) memastikan bobot yang digunakan dapat diandalkan.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418795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279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4206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ranking bersifat transparan dan dapat dipertanggungjawabkan, mendukung pengambilan keputusan lokasi cabang secara lebih objektif.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056632"/>
            <a:ext cx="457200" cy="45720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148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5074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Antarmuka wizard step-by-step + visualisasi grafik membuat sistem ramah pengguna bahkan bagi non-teknis.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65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656539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 · AHP + TOPSIS · Pemilihan Lokasi Cabang Baru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 untuk demonstrasi aplikasi &amp; sesi tanya jawab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029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Pendukung Keputusan  ·  AHP + TOPSIS  ·  Pemilihan Lokasi Cabang Baru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UGM / Computer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SPK Pemilihan Lokasi Cabang Baru - AHP + TOPSIS</dc:title>
  <dc:subject>PptxGenJS Presentation</dc:subject>
  <dc:creator>Sistem Pendukung Keputusan</dc:creator>
  <cp:lastModifiedBy>Sistem Pendukung Keputusan</cp:lastModifiedBy>
  <cp:revision>1</cp:revision>
  <dcterms:created xsi:type="dcterms:W3CDTF">2026-10-07T19:13:37Z</dcterms:created>
  <dcterms:modified xsi:type="dcterms:W3CDTF">2026-10-07T19:13:37Z</dcterms:modified>
</cp:coreProperties>
</file>